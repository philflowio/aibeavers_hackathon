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rapezoid 2"/>
          <p:cNvSpPr/>
          <p:nvPr/>
        </p:nvSpPr>
        <p:spPr>
          <a:xfrm>
            <a:off x="11277295" y="228600"/>
            <a:ext cx="685800" cy="685800"/>
          </a:xfrm>
          <a:prstGeom prst="trapezoid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10362895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800" b="1">
                <a:solidFill>
                  <a:srgbClr val="FFFFFF"/>
                </a:solidFill>
              </a:rPr>
              <a:t>Problem &amp; Kunde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841248"/>
            <a:ext cx="103628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E2E8F0"/>
                </a:solidFill>
              </a:rPr>
              <a:t>Der Nacharbeits-Agent — Jedes Beratungsgespräch erledigt sich danach von selbst.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11277295" cy="4709160"/>
          </a:xfrm>
          <a:prstGeom prst="rect">
            <a:avLst/>
          </a:prstGeom>
          <a:solidFill>
            <a:srgbClr val="F7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783080"/>
            <a:ext cx="1054577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 i="1">
                <a:solidFill>
                  <a:srgbClr val="1A365D"/>
                </a:solidFill>
              </a:rPr>
              <a:t>Ein selbstständiger Finanzberater verliert pro Gespräch eine halbe Stunde an Nacharbeit — terminieren, CRM, Antrag — und genau da sterben Abschlüsse, die im Raum schon 'ja' waren. Wir sind sein Agent: nach dem Gespräch erledigt sich die gesamte Nacharbeit von selbst, aus dem Transkript. Lokal, weil US-Tools bei Finanzdaten nicht antreten dürfen.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88920"/>
            <a:ext cx="10545775" cy="3154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000">
                <a:solidFill>
                  <a:srgbClr val="1A202C"/>
                </a:solidFill>
              </a:rPr>
              <a:t>•  Kunde: selbstständiger Finanzberater / Versicherungsvermittler, §34d/§34f-Zulassung, Maklerpool-angebunden — lebt von der Abschlussquote.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1A202C"/>
                </a:solidFill>
              </a:rPr>
              <a:t>•  Schmerz: ~30 Min Nacharbeit pro Gespräch (terminieren, Unterlagen anfordern, Antrag vorbereiten, Pflichtfelder nachhalten) — die Zeit, in der er das nächste Geld verdienen könnte.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1A202C"/>
                </a:solidFill>
              </a:rPr>
              <a:t>•  Status quo: macht er abends von Hand oder gar nicht — dann stirbt der Abschluss. Sein echter Konkurrent ist sein eigener Feierabend-Papierkram, nicht ein US-Notetaker.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1109441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2B6CB0"/>
                </a:solidFill>
              </a:rPr>
              <a:t>Der Nacharbeits-Agent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68735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2B6CB0"/>
                </a:solidFill>
              </a:rPr>
              <a:t>1/7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rapezoid 2"/>
          <p:cNvSpPr/>
          <p:nvPr/>
        </p:nvSpPr>
        <p:spPr>
          <a:xfrm>
            <a:off x="11277295" y="228600"/>
            <a:ext cx="685800" cy="685800"/>
          </a:xfrm>
          <a:prstGeom prst="trapezoid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10362895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800" b="1">
                <a:solidFill>
                  <a:srgbClr val="FFFFFF"/>
                </a:solidFill>
              </a:rPr>
              <a:t>Lösung &amp; Produkt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841248"/>
            <a:ext cx="103628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E2E8F0"/>
                </a:solidFill>
              </a:rPr>
              <a:t>Was wir gebaut haben — live zeigbar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11277295" cy="4709160"/>
          </a:xfrm>
          <a:prstGeom prst="rect">
            <a:avLst/>
          </a:prstGeom>
          <a:solidFill>
            <a:srgbClr val="F7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783080"/>
            <a:ext cx="10545775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000">
                <a:solidFill>
                  <a:srgbClr val="1A202C"/>
                </a:solidFill>
              </a:rPr>
              <a:t>•  Input = Transkript des Beratungsgesprächs. Output = ausgeführte Folgeaktionen, live als Plan-Checkliste die sich abhakt: ✓ Folgetermin ✓ CRM ✓ Antrag ⚠ ESG-Pflichtfrage.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1A202C"/>
                </a:solidFill>
              </a:rPr>
              <a:t>•  Er fasst nicht zusammen — er HANDELT: legt den Folgetermin an und verschickt die echte Kalender-Einladung (live sichtbar im Demo), trägt den CRM-Eintrag ein, füllt den Wohn-Riester-Antrag vor (162 €, 'ausgewogen', Berger).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1A202C"/>
                </a:solidFill>
              </a:rPr>
              <a:t>•  Sub-Akt Compliance: fehlende ESG-Abfragepflicht (§34d, Pflicht seit 02.08.2022) erkannt — beiläufig auf die Folgetermin-Agenda gesetzt. Beweist Tiefe, ohne Compliance zum Hauptact zu machen.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1A202C"/>
                </a:solidFill>
              </a:rPr>
              <a:t>•  Live-Demo: [PLATZHALTER: hosted preview URL — eintragen sobald deployed, stark erwünscht für Submission]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1109441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2B6CB0"/>
                </a:solidFill>
              </a:rPr>
              <a:t>Der Nacharbeits-Agent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68735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2B6CB0"/>
                </a:solidFill>
              </a:rPr>
              <a:t>2/7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rapezoid 2"/>
          <p:cNvSpPr/>
          <p:nvPr/>
        </p:nvSpPr>
        <p:spPr>
          <a:xfrm>
            <a:off x="11277295" y="228600"/>
            <a:ext cx="685800" cy="685800"/>
          </a:xfrm>
          <a:prstGeom prst="trapezoid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10362895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800" b="1">
                <a:solidFill>
                  <a:srgbClr val="FFFFFF"/>
                </a:solidFill>
              </a:rPr>
              <a:t>Why Now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841248"/>
            <a:ext cx="103628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E2E8F0"/>
                </a:solidFill>
              </a:rPr>
              <a:t>Warum gerade jetzt möglich / dringend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11277295" cy="4709160"/>
          </a:xfrm>
          <a:prstGeom prst="rect">
            <a:avLst/>
          </a:prstGeom>
          <a:solidFill>
            <a:srgbClr val="F7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783080"/>
            <a:ext cx="10545775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000">
                <a:solidFill>
                  <a:srgbClr val="1A202C"/>
                </a:solidFill>
              </a:rPr>
              <a:t>•  Agentic LLMs 2026: aus unstrukturiertem Transkript strukturierte Aktions-JSON ableiten UND echte System-Calls ausführen — nicht nur Text zurückgeben. Der Copilot-Sprung ('soll ich?') → ausgeführter Akt ist erst jetzt zuverlässig möglich.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1A202C"/>
                </a:solidFill>
              </a:rPr>
              <a:t>•  YC-2026-Bar wörtlich: 'they don't sell software — they just do the work.' Das ist hier wörtlich gemeint: kein Dashboard, kein Template — die Nacharbeit ist erledigt.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1A202C"/>
                </a:solidFill>
              </a:rPr>
              <a:t>•  DSGVO als Eintrittsbarriere für US-Anbieter: Otter, Fireflies, Jamie dürfen bei Finanzdaten (Beratungsprotokoll nach VVG §61, Geeignetheitserklärung §34f) strukturell nicht antreten. Lokale / EU-souveräne Verarbeitung ist bei diesem Käufer Pflicht, kein Nice-to-have.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1A202C"/>
                </a:solidFill>
              </a:rPr>
              <a:t>•  ESG-Abfragepflicht seit 02.08.2022 (§34d) + IDD/FinVermV-Aufzeichnungspflicht: mehr Pflichtfelder pro Gespräch = mehr Nacharbeitsload = mehr Schmerz — der Markt wächst regulatory.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1109441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2B6CB0"/>
                </a:solidFill>
              </a:rPr>
              <a:t>Der Nacharbeits-Agent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68735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2B6CB0"/>
                </a:solidFill>
              </a:rPr>
              <a:t>3/7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rapezoid 2"/>
          <p:cNvSpPr/>
          <p:nvPr/>
        </p:nvSpPr>
        <p:spPr>
          <a:xfrm>
            <a:off x="11277295" y="228600"/>
            <a:ext cx="685800" cy="685800"/>
          </a:xfrm>
          <a:prstGeom prst="trapezoid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10362895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800" b="1">
                <a:solidFill>
                  <a:srgbClr val="FFFFFF"/>
                </a:solidFill>
              </a:rPr>
              <a:t>Markt &amp; Wettbewerb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841248"/>
            <a:ext cx="103628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E2E8F0"/>
                </a:solidFill>
              </a:rPr>
              <a:t>Kundenzahl × Umsatz/Kunde — nie '1% von $100B'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5501487" cy="4709160"/>
          </a:xfrm>
          <a:prstGeom prst="rect">
            <a:avLst/>
          </a:prstGeom>
          <a:solidFill>
            <a:srgbClr val="F7FAFC"/>
          </a:solidFill>
          <a:ln w="25400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645920"/>
            <a:ext cx="4952847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 b="1">
                <a:solidFill>
                  <a:srgbClr val="2B6CB0"/>
                </a:solidFill>
              </a:rPr>
              <a:t>Markt (bottom-up)</a:t>
            </a:r>
          </a:p>
          <a:p>
            <a:pPr>
              <a:spcAft>
                <a:spcPts val="900"/>
              </a:spcAft>
            </a:pPr>
            <a:r>
              <a:rPr sz="1600">
                <a:solidFill>
                  <a:srgbClr val="1A202C"/>
                </a:solidFill>
              </a:rPr>
              <a:t>•  Bottom-up (Quelle: DIHK-Vermittlerregister 01.01.2026): §34d Versicherungsmakler 46.885 + §34f Finanzanlagevermittler 41.243 = Kern-Beachhead ~88.000 selbst-kaufende Berater in DE.</a:t>
            </a:r>
          </a:p>
          <a:p>
            <a:pPr>
              <a:spcAft>
                <a:spcPts val="900"/>
              </a:spcAft>
            </a:pPr>
            <a:r>
              <a:rPr sz="1600">
                <a:solidFill>
                  <a:srgbClr val="1A202C"/>
                </a:solidFill>
              </a:rPr>
              <a:t>•  Pricing-Annahme €59/Seat/Monat (€708/Jahr) → SAM DE ≈ €62 Mio/Jahr. Traktion-Mathe: 1 % = 880 Berater ≈ €620k ARR; 5 % = 4.400 ≈ €3,1 Mio ARR.</a:t>
            </a:r>
          </a:p>
          <a:p>
            <a:pPr>
              <a:spcAft>
                <a:spcPts val="900"/>
              </a:spcAft>
            </a:pPr>
            <a:r>
              <a:rPr sz="1600">
                <a:solidFill>
                  <a:srgbClr val="1A202C"/>
                </a:solidFill>
              </a:rPr>
              <a:t>•  Expansion (Doctolib-Muster): +27.072 gebundene Mehrfachvertreter DE, AT/CH, Anwälte/Steuerberater, Call-Center — jedes meeting-lastige Team erzeugt dieselbe Nacharbeits-Last.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33007" y="1417320"/>
            <a:ext cx="5501487" cy="4709160"/>
          </a:xfrm>
          <a:prstGeom prst="rect">
            <a:avLst/>
          </a:prstGeom>
          <a:solidFill>
            <a:srgbClr val="F7FAFC"/>
          </a:solidFill>
          <a:ln w="25400"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07327" y="1645920"/>
            <a:ext cx="4952847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 b="1">
                <a:solidFill>
                  <a:srgbClr val="1A365D"/>
                </a:solidFill>
              </a:rPr>
              <a:t>Wettbewerb &amp; Vorsprung</a:t>
            </a:r>
          </a:p>
          <a:p>
            <a:pPr>
              <a:spcAft>
                <a:spcPts val="900"/>
              </a:spcAft>
            </a:pPr>
            <a:r>
              <a:rPr sz="1600">
                <a:solidFill>
                  <a:srgbClr val="1A202C"/>
                </a:solidFill>
              </a:rPr>
              <a:t>•  Status quo (echter Konkurrent): Berater macht es abends von Hand oder gar nicht — Abschluss stirbt.</a:t>
            </a:r>
          </a:p>
          <a:p>
            <a:pPr>
              <a:spcAft>
                <a:spcPts val="900"/>
              </a:spcAft>
            </a:pPr>
            <a:r>
              <a:rPr sz="1600">
                <a:solidFill>
                  <a:srgbClr val="1A202C"/>
                </a:solidFill>
              </a:rPr>
              <a:t>•  Direkt: Notetaker (Otter, Fireflies, Jamie) — fassen zusammen, handeln nicht, US-Cloud, bei §34d/34f strukturell nicht zulässig.</a:t>
            </a:r>
          </a:p>
          <a:p>
            <a:pPr>
              <a:spcAft>
                <a:spcPts val="900"/>
              </a:spcAft>
            </a:pPr>
            <a:r>
              <a:rPr sz="1600">
                <a:solidFill>
                  <a:srgbClr val="1A202C"/>
                </a:solidFill>
              </a:rPr>
              <a:t>•  Indirekt: generische CRM-Automatisierung ohne Gesprächs-Grounding; MVPs (keasy, AMS) erzeugen nur Templates zum manuellen Ausfüllen.</a:t>
            </a:r>
          </a:p>
          <a:p>
            <a:pPr>
              <a:spcAft>
                <a:spcPts val="900"/>
              </a:spcAft>
            </a:pPr>
            <a:r>
              <a:rPr sz="1600">
                <a:solidFill>
                  <a:srgbClr val="1A202C"/>
                </a:solidFill>
              </a:rPr>
              <a:t>•  —</a:t>
            </a:r>
          </a:p>
          <a:p>
            <a:pPr>
              <a:spcAft>
                <a:spcPts val="900"/>
              </a:spcAft>
            </a:pPr>
            <a:r>
              <a:rPr sz="1600">
                <a:solidFill>
                  <a:srgbClr val="1A202C"/>
                </a:solidFill>
              </a:rPr>
              <a:t>•  Agent FÜHRT AUS — der sichtbare 'er hat gehandelt'-Akt ist der Produktkern, nicht ein Feature.</a:t>
            </a:r>
          </a:p>
          <a:p>
            <a:pPr>
              <a:spcAft>
                <a:spcPts val="900"/>
              </a:spcAft>
            </a:pPr>
            <a:r>
              <a:rPr sz="1600">
                <a:solidFill>
                  <a:srgbClr val="1A202C"/>
                </a:solidFill>
              </a:rPr>
              <a:t>•  Lokal / EU-souverän: bei Finanzdaten regulatorisch erforderlich, wo US-Tools ausscheiden.</a:t>
            </a:r>
          </a:p>
          <a:p>
            <a:pPr>
              <a:spcAft>
                <a:spcPts val="900"/>
              </a:spcAft>
            </a:pPr>
            <a:r>
              <a:rPr sz="1600">
                <a:solidFill>
                  <a:srgbClr val="1A202C"/>
                </a:solidFill>
              </a:rPr>
              <a:t>•  Direkter Käufer-Zugang über Maklerpool (Ulf) — konkreter Erstvertriebskanal, kein 'wir machen SEO'.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1109441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2B6CB0"/>
                </a:solidFill>
              </a:rPr>
              <a:t>Der Nacharbeits-Agent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68735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2B6CB0"/>
                </a:solidFill>
              </a:rPr>
              <a:t>4/7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rapezoid 2"/>
          <p:cNvSpPr/>
          <p:nvPr/>
        </p:nvSpPr>
        <p:spPr>
          <a:xfrm>
            <a:off x="11277295" y="228600"/>
            <a:ext cx="685800" cy="685800"/>
          </a:xfrm>
          <a:prstGeom prst="trapezoid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10362895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800" b="1">
                <a:solidFill>
                  <a:srgbClr val="FFFFFF"/>
                </a:solidFill>
              </a:rPr>
              <a:t>Geschäftsmodell &amp;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841248"/>
            <a:ext cx="103628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E2E8F0"/>
                </a:solidFill>
              </a:rPr>
              <a:t>Wer zahlt, wie oft — und was ihr validiert habt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11277295" cy="4709160"/>
          </a:xfrm>
          <a:prstGeom prst="rect">
            <a:avLst/>
          </a:prstGeom>
          <a:solidFill>
            <a:srgbClr val="F7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783080"/>
            <a:ext cx="10545775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000">
                <a:solidFill>
                  <a:srgbClr val="1A202C"/>
                </a:solidFill>
              </a:rPr>
              <a:t>•  Geschäftsmodell: SaaS-Abo pro Berater/Monat. Preisannahme €59/Seat/Monat (angelehnt an Nischentools für regulierte Berufe). [PLATZHALTER: finaler Preis vor Pitch bestätigen — wer zahlt, wie viel, wie oft.]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1A202C"/>
                </a:solidFill>
              </a:rPr>
              <a:t>•  [PLATZHALTER EVIDENCE — kritisch, Rubrik-Kriterium 15 %]: Ein echtes Zitat von einem Finanzberater ('wann krieg ich das?' / 'ich will das testen') — über Ulf/Maklerpool einholen, in Schrift. NICHT erfinden. Ohne diesen Satz bleibt das stärkste Rubrik-Feld unerfüllt.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1A202C"/>
                </a:solidFill>
              </a:rPr>
              <a:t>•  Founder-Edge-Evidenz (vorhanden): Discovery-Gespräche geführt, Maklerpool-Zugang über Ulf, direkter Einblick in Doku-Last. Policen-Direkt-Maklerbarometer 2021 (N=411): &gt;50 % der Maklerzeit geht an IT/Bürokratie, 65 % wollen sie komplett abgeben.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1A202C"/>
                </a:solidFill>
              </a:rPr>
              <a:t>•  Ehrlicher nächster Schritt: Montag mit 2 echten Beratern testen (konkret benannt, nicht adjektivisch).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1109441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2B6CB0"/>
                </a:solidFill>
              </a:rPr>
              <a:t>Der Nacharbeits-Agent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68735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2B6CB0"/>
                </a:solidFill>
              </a:rPr>
              <a:t>5/7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rapezoid 2"/>
          <p:cNvSpPr/>
          <p:nvPr/>
        </p:nvSpPr>
        <p:spPr>
          <a:xfrm>
            <a:off x="11277295" y="228600"/>
            <a:ext cx="685800" cy="685800"/>
          </a:xfrm>
          <a:prstGeom prst="trapezoid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10362895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800" b="1">
                <a:solidFill>
                  <a:srgbClr val="FFFFFF"/>
                </a:solidFill>
              </a:rPr>
              <a:t>Go-to-Market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841248"/>
            <a:ext cx="103628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E2E8F0"/>
                </a:solidFill>
              </a:rPr>
              <a:t>Ein Kanal, den ihr wirklich fahren könnt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11277295" cy="4709160"/>
          </a:xfrm>
          <a:prstGeom prst="rect">
            <a:avLst/>
          </a:prstGeom>
          <a:solidFill>
            <a:srgbClr val="F7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783080"/>
            <a:ext cx="10545775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000">
                <a:solidFill>
                  <a:srgbClr val="1A202C"/>
                </a:solidFill>
              </a:rPr>
              <a:t>•  Erste 50: über den Maklerpool-Kanal (Ulf/Maklerpool-Netzwerk) — ein konkreter, fahrbarer Kanal, kein 'wir machen SEO'.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1A202C"/>
                </a:solidFill>
              </a:rPr>
              <a:t>•  Land über den sichtbaren Akt (echte Einladung live im Demo = viraler Wow-Moment), expand über CRM- und Antrags-Integration als nächste Integrationen.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1A202C"/>
                </a:solidFill>
              </a:rPr>
              <a:t>•  Expansion: Maklerpools (Fonds Finanz, JDC, blau direkt) bündeln Software an Tausende angebundene Makler — 1 Pool-Deal = tausende Berater. Risiko (ehrlich benannt): Pool-Lock-in-Gefahr klären.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1109441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2B6CB0"/>
                </a:solidFill>
              </a:rPr>
              <a:t>Der Nacharbeits-Agent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68735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2B6CB0"/>
                </a:solidFill>
              </a:rPr>
              <a:t>6/7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rapezoid 2"/>
          <p:cNvSpPr/>
          <p:nvPr/>
        </p:nvSpPr>
        <p:spPr>
          <a:xfrm>
            <a:off x="11277295" y="228600"/>
            <a:ext cx="685800" cy="685800"/>
          </a:xfrm>
          <a:prstGeom prst="trapezoid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10362895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800" b="1">
                <a:solidFill>
                  <a:srgbClr val="FFFFFF"/>
                </a:solidFill>
              </a:rPr>
              <a:t>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841248"/>
            <a:ext cx="103628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E2E8F0"/>
                </a:solidFill>
              </a:rPr>
              <a:t>Warum dieses Team — Kontakt am Ende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11277295" cy="4709160"/>
          </a:xfrm>
          <a:prstGeom prst="rect">
            <a:avLst/>
          </a:prstGeom>
          <a:solidFill>
            <a:srgbClr val="F7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783080"/>
            <a:ext cx="10545775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000">
                <a:solidFill>
                  <a:srgbClr val="1A202C"/>
                </a:solidFill>
              </a:rPr>
              <a:t>•  Phil — Produkt, Pitch, Prompts, Käufer-Zugang (Maklerpool-Netzwerk). Meeting-Intelligence-Domäne live in Produktion (Handwerks-Beleg, nicht Hackathon-Demo).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1A202C"/>
                </a:solidFill>
              </a:rPr>
              <a:t>•  Jacob — Agent-Verdrahtung, UI (Plan-Checkliste + Panels), echter Google-Kalender-Call. Build-Tiefe: LangChain-Agent mit echten Tool-Calls.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1A202C"/>
                </a:solidFill>
              </a:rPr>
              <a:t>•  Warum dieses Team: direkter Zugang zum namentlichen Käufer + Agent-Engineering-Tiefe in einem Team. Nicht Interesse — Zugang.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1A202C"/>
                </a:solidFill>
              </a:rPr>
              <a:t>•  Kontakt: [PLATZHALTER: name@domain — LinkedIn-URL]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1109441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2B6CB0"/>
                </a:solidFill>
              </a:rPr>
              <a:t>Der Nacharbeits-Agent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68735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2B6CB0"/>
                </a:solidFill>
              </a:rPr>
              <a:t>7/7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